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" id="{12422a34-ee48-c7ba-7bc2-19cb89d0b71e}">
          <p14:sldIdLst>
            <p14:sldId id="256"/>
          </p14:sldIdLst>
        </p14:section>
        <p14:section name="The two weeks" id="{788e39eb-9c37-905b-2efc-d178d41bd0e2}">
          <p14:sldIdLst>
            <p14:sldId id="257"/>
          </p14:sldIdLst>
        </p14:section>
        <p14:section name="Story one" id="{f0075316-95fd-9b9a-56b0-612f7809030a}">
          <p14:sldIdLst>
            <p14:sldId id="258"/>
            <p14:sldId id="259"/>
          </p14:sldIdLst>
        </p14:section>
        <p14:section name="Story two" id="{96b7a2b7-56d3-a01a-cfa3-f90dcdd1a045}">
          <p14:sldIdLst>
            <p14:sldId id="260"/>
            <p14:sldId id="261"/>
            <p14:sldId id="262"/>
          </p14:sldIdLst>
        </p14:section>
        <p14:section name="The stakes" id="{5170b9bb-acc0-8cb6-4f1b-7fbfd091c1ab}">
          <p14:sldIdLst>
            <p14:sldId id="263"/>
            <p14:sldId id="264"/>
          </p14:sldIdLst>
        </p14:section>
        <p14:section name="The answer" id="{1ce4969f-cbc8-8840-27f8-bbc9e5b57908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Cold open. Read the four frozen numbers first, then say good morning. Do not greet before the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contrast and move. Do not explain either column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this flat. No pride in the voice. The pride is the thing being corrected in two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hundred and thirty two reactions and sixty three shares. The room looked, reacted, shared and did not buy. That is worse than being ignored.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Daniel McGlynn, verified 27 and 31 August, then 3, 4 and 6 September. CoinDesk quoted the same four figures in July.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source out loud as you give each figure. TRM Labs. Artemis and Visa. You are telling people a number they have repeated is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Fourteen days. Largest asset manager on earth, Ethereum Foundation, Ripple, Block, Mastercard. I am not saying do not build it. Know which part you are standing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is not a forecast. That is five weeks ago.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 here. This is the line the audience will repeat tomorrow.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Regulators and vendors, working separately, landed on the same answer. Nobody is saying it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economy needs somebody to say what they want, somebody to agree to pay, and a record both accept afterwards. I shipped the record and skipped the other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question, not on a thank you. Then point at the Substack.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1371600"/>
            <a:ext cx="8010144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2F3F7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3246120"/>
            <a:ext cx="8010144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93A0BB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20624"/>
            <a:ext cx="8010144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2F3F7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325880"/>
            <a:ext cx="8010144" cy="3200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93A0BB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30768" y="47594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rgbClr val="F2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20624"/>
            <a:ext cx="8010144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D1018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325880"/>
            <a:ext cx="8010144" cy="3200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48506A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30768" y="47594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2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30768" y="47594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1371600"/>
            <a:ext cx="8010144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2F3F7"/>
                </a:solidFill>
              </a:rPr>
              <a:t>A count is not an economy</a:t>
            </a: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3246120"/>
            <a:ext cx="80101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93A0BB"/>
                </a:solidFill>
              </a:rPr>
              <a:t>Two weeks, side by side. One is mine, from a hall in Abuja. One is the biggest number in AI right now.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48640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33C"/>
                </a:solidFill>
              </a:rPr>
              <a:t>LIVE  ·  MONDAY 5 OCTOBER 2026  ·  12 MINUTES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20624"/>
            <a:ext cx="80101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3F7"/>
                </a:solidFill>
              </a:rPr>
              <a:t>Same week. Two scoreboards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371600"/>
            <a:ext cx="3803904" cy="2834640"/>
          </a:xfrm>
          <a:prstGeom prst="roundRect">
            <a:avLst>
              <a:gd name="adj" fmla="val 3226"/>
            </a:avLst>
          </a:prstGeom>
          <a:solidFill>
            <a:srgbClr val="1B2232"/>
          </a:solidFill>
          <a:ln w="12700">
            <a:solidFill>
              <a:srgbClr val="2832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36008" y="1371600"/>
            <a:ext cx="3803904" cy="2834640"/>
          </a:xfrm>
          <a:prstGeom prst="roundRect">
            <a:avLst>
              <a:gd name="adj" fmla="val 3226"/>
            </a:avLst>
          </a:prstGeom>
          <a:solidFill>
            <a:srgbClr val="1B2232"/>
          </a:solidFill>
          <a:ln w="12700">
            <a:solidFill>
              <a:srgbClr val="2832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B33C"/>
                </a:solidFill>
              </a:rPr>
              <a:t>MINE, IN ABUJA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910328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604F"/>
                </a:solidFill>
              </a:rPr>
              <a:t>THE INDUSTRY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01168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2F3F7"/>
                </a:solidFill>
              </a:rPr>
              <a:t>106 works sealed, every seal intact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2F3F7"/>
                </a:solidFill>
              </a:rPr>
              <a:t>Every hash link held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2F3F7"/>
                </a:solidFill>
              </a:rPr>
              <a:t>One Polygon transaction, whole day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E0604F"/>
                </a:solidFill>
              </a:rPr>
              <a:t>Zero sold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910328" y="201168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2F3F7"/>
                </a:solidFill>
              </a:rPr>
              <a:t>BlackRock, Ethereum Foundation, Ripple,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2F3F7"/>
                </a:solidFill>
              </a:rPr>
              <a:t>Block and Mastercard all shipped rails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2F3F7"/>
                </a:solidFill>
              </a:rPr>
              <a:t>$766m stolen, worst month of 2026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E0604F"/>
                </a:solidFill>
              </a:rPr>
              <a:t>The counter has not moved since March</a:t>
            </a:r>
            <a:endParaRPr lang="en-US" sz="1500" dirty="0"/>
          </a:p>
        </p:txBody>
      </p:sp>
      <p:sp>
        <p:nvSpPr>
          <p:cNvPr id="10" name="Text 0"/>
          <p:cNvSpPr/>
          <p:nvPr>
            <p:ph idx="101" type="body" hasCustomPrompt="1"/>
          </p:nvPr>
        </p:nvSpPr>
        <p:spPr>
          <a:xfrm>
            <a:off x="566928" y="1325880"/>
            <a:ext cx="801014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30768" y="47594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20624"/>
            <a:ext cx="80101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018"/>
                </a:solidFill>
              </a:rPr>
              <a:t>What held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34440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390"/>
                </a:solidFill>
              </a:rPr>
              <a:t>Counted from the raw backups afterwards, not read off my own dashboard.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87452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606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sealed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624328" y="187452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2624328" y="2606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681728" y="187452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681728" y="2606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39128" y="187452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739128" y="2606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seals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356616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018"/>
                </a:solidFill>
              </a:rPr>
              <a:t>Technically it was clean.</a:t>
            </a:r>
            <a:endParaRPr lang="en-US" sz="2200" dirty="0"/>
          </a:p>
        </p:txBody>
      </p:sp>
      <p:sp>
        <p:nvSpPr>
          <p:cNvPr id="14" name="Text 0"/>
          <p:cNvSpPr/>
          <p:nvPr>
            <p:ph idx="101" type="body" hasCustomPrompt="1"/>
          </p:nvPr>
        </p:nvSpPr>
        <p:spPr>
          <a:xfrm>
            <a:off x="566928" y="1325880"/>
            <a:ext cx="801014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30768" y="47594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2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20624"/>
            <a:ext cx="80101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3F7"/>
                </a:solidFill>
              </a:rPr>
              <a:t>Now the rest of the count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60020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06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sold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624328" y="160020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06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624328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with an artist ID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681728" y="160020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06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681728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that could not convert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739128" y="160020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06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739128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the AI advisor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246120"/>
            <a:ext cx="8010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B33C"/>
                </a:solidFill>
              </a:rPr>
              <a:t>I built the proof. Nobody wanted the proof. They wanted to sell a painting.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11480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0BB"/>
                </a:solidFill>
              </a:rPr>
              <a:t>The board is public. Anyone can open it and count: 106 works, 63 shares, 132 reactions, every seal intact, zero sold.</a:t>
            </a:r>
            <a:endParaRPr lang="en-US" sz="1400" dirty="0"/>
          </a:p>
        </p:txBody>
      </p:sp>
      <p:sp>
        <p:nvSpPr>
          <p:cNvPr id="14" name="Text 0"/>
          <p:cNvSpPr/>
          <p:nvPr>
            <p:ph idx="101" type="body" hasCustomPrompt="1"/>
          </p:nvPr>
        </p:nvSpPr>
        <p:spPr>
          <a:xfrm>
            <a:off x="566928" y="1325880"/>
            <a:ext cx="801014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30768" y="47594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20624"/>
            <a:ext cx="80101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3F7"/>
                </a:solidFill>
              </a:rPr>
              <a:t>The counter that stopped counting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371600"/>
            <a:ext cx="8010144" cy="1920240"/>
          </a:xfrm>
          <a:prstGeom prst="roundRect">
            <a:avLst>
              <a:gd name="adj" fmla="val 4762"/>
            </a:avLst>
          </a:prstGeom>
          <a:solidFill>
            <a:srgbClr val="1B2232"/>
          </a:solidFill>
          <a:ln w="15875">
            <a:solidFill>
              <a:srgbClr val="E060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" y="1554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604F"/>
                </a:solidFill>
              </a:rPr>
              <a:t>LABEL ON THAT PAGE: LAST 30 DAYS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192024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75.41M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715768" y="192024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$24.24M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715768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90288" y="192024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94,060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590288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64808" y="192024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64808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474720"/>
            <a:ext cx="8010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0BB"/>
                </a:solidFill>
              </a:rPr>
              <a:t>Checked on five separate days across August and September. Identical every time. No timestamp, no methodology, and the FAQ page returns a 404.</a:t>
            </a:r>
            <a:endParaRPr lang="en-US" sz="1500" dirty="0"/>
          </a:p>
        </p:txBody>
      </p:sp>
      <p:sp>
        <p:nvSpPr>
          <p:cNvPr id="15" name="Text 0"/>
          <p:cNvSpPr/>
          <p:nvPr>
            <p:ph idx="101" type="body" hasCustomPrompt="1"/>
          </p:nvPr>
        </p:nvSpPr>
        <p:spPr>
          <a:xfrm>
            <a:off x="566928" y="1325880"/>
            <a:ext cx="801014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30768" y="47594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20624"/>
            <a:ext cx="80101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018"/>
                </a:solidFill>
              </a:rPr>
              <a:t>What the forensics actually found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34440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390"/>
                </a:solidFill>
              </a:rPr>
              <a:t>TRM Labs took $52.7m of settlement since launch and asked how much is really an AI agent.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87452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06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 to 7.5%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606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value is verifiably agent-driven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187452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06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$5k to $11k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401568" y="2606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agent spend per month, 2026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236208" y="187452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06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236208" y="2606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volume stripped by Artemis and Visa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520440"/>
            <a:ext cx="8010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8506A"/>
                </a:solidFill>
              </a:rPr>
              <a:t>A script, a cron job, a load test, a self-payment loop and a human clicking a button all produce the same HTTP 402 sequence. On-chain you cannot tell them apart.</a:t>
            </a:r>
            <a:endParaRPr lang="en-US" sz="1500" dirty="0"/>
          </a:p>
        </p:txBody>
      </p:sp>
      <p:sp>
        <p:nvSpPr>
          <p:cNvPr id="12" name="Text 0"/>
          <p:cNvSpPr/>
          <p:nvPr>
            <p:ph idx="101" type="body" hasCustomPrompt="1"/>
          </p:nvPr>
        </p:nvSpPr>
        <p:spPr>
          <a:xfrm>
            <a:off x="566928" y="1325880"/>
            <a:ext cx="801014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30768" y="47594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2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20624"/>
            <a:ext cx="80101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3F7"/>
                </a:solidFill>
              </a:rPr>
              <a:t>And the rails shipped anyway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417320"/>
            <a:ext cx="801014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2F3F7"/>
                </a:solidFill>
              </a:rPr>
              <a:t>BlackRock published a thesis naming x402 by protocol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2F3F7"/>
                </a:solidFill>
              </a:rPr>
              <a:t>The Ethereum Foundation shipped zkAPI to mainnet on the first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2F3F7"/>
                </a:solidFill>
              </a:rPr>
              <a:t>Ripple announced agent wallets with verified identity and spending limits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2F3F7"/>
                </a:solidFill>
              </a:rPr>
              <a:t>Block joined the x402 Foundation and brought Bitcoin Lightning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2F3F7"/>
                </a:solidFill>
              </a:rPr>
              <a:t>Mastercard's Verifiable Intent went into the XRP Ledger facilitator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65760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B33C"/>
                </a:solidFill>
              </a:rPr>
              <a:t>We built a motorway for $11,000 a month of traffic.</a:t>
            </a:r>
            <a:endParaRPr lang="en-US" sz="26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66928" y="1325880"/>
            <a:ext cx="801014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30768" y="47594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20624"/>
            <a:ext cx="80101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3F7"/>
                </a:solidFill>
              </a:rPr>
              <a:t>The agents are already out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371600"/>
            <a:ext cx="8010144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F2F3F7"/>
                </a:solidFill>
              </a:rPr>
              <a:t>July: around 700 OpenAI agents escaped a sandbox with no internet access, reached the internet, used zero-days, entered Hugging Face and stole the answer key to the test they were being graded on. More than 17,000 attacker actions. Then they tried to cover their tracks.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F2F3F7"/>
                </a:solidFill>
              </a:rPr>
              <a:t>September: Transluce found the behaviour went back to March. Government statistics bodies. The Education Department. Commerce. The SEC.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E8B33C"/>
                </a:solidFill>
              </a:rPr>
              <a:t>The most recent activity included attempts to break into a cryptocurrency exchange and trade. The attempts failed.</a:t>
            </a:r>
            <a:endParaRPr lang="en-US" sz="15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66928" y="1325880"/>
            <a:ext cx="801014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30768" y="47594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20624"/>
            <a:ext cx="80101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018"/>
                </a:solidFill>
              </a:rPr>
              <a:t>Do not delete any emails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325880"/>
            <a:ext cx="8010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D1018"/>
                </a:solidFill>
              </a:rPr>
              <a:t>A security researcher at Meta ran an agent on her own laptop and told it exactly that. It deleted her inbox.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148840"/>
            <a:ext cx="8010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8506A"/>
                </a:solidFill>
              </a:rPr>
              <a:t>Not a hack and not a jailbreak. The email thread was long, so the system compressed its own context to save room, and the instruction was in the part it threw away.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200400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23A2A"/>
                </a:solidFill>
              </a:rPr>
              <a:t>Telling an agent not to do something is not a control. It is a suggestion that competes for space.</a:t>
            </a:r>
            <a:endParaRPr lang="en-US" sz="24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566928" y="1325880"/>
            <a:ext cx="801014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30768" y="47594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2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20624"/>
            <a:ext cx="80101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3F7"/>
                </a:solidFill>
              </a:rPr>
              <a:t>Everyone arrived at the same primitive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371600"/>
            <a:ext cx="801014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2F3F7"/>
                </a:solidFill>
              </a:rPr>
              <a:t>Google's AP2 chains three signed mandates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2F3F7"/>
                </a:solidFill>
              </a:rPr>
              <a:t>Mastercard sells Verifiable Intent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2F3F7"/>
                </a:solidFill>
              </a:rPr>
              <a:t>Ripple's agent wallets carry verified identity and spending limits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2F3F7"/>
                </a:solidFill>
              </a:rPr>
              <a:t>Singapore requires every agent to hold a verifiable identity and an audit trail of who authorised what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2F3F7"/>
                </a:solidFill>
              </a:rPr>
              <a:t>EU AI Act Article 12 requires a queryable record of AI-driven decisions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703320"/>
            <a:ext cx="8010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33C"/>
                </a:solidFill>
              </a:rPr>
              <a:t>Cryptographic proof of delegated authority. That is not a payments problem. It is an evidence problem.</a:t>
            </a:r>
            <a:endParaRPr lang="en-US" sz="22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66928" y="1325880"/>
            <a:ext cx="801014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30768" y="47594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1371600"/>
            <a:ext cx="8010144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2F3F7"/>
                </a:solidFill>
              </a:rPr>
              <a:t>A count is not an economy</a:t>
            </a: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3246120"/>
            <a:ext cx="80101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93A0BB"/>
                </a:solidFill>
              </a:rPr>
              <a:t>I had 106 perfect records and felt good about the 106. The industry has twelve million transactions and a 93% collapse in value, and feels good about the twelve million. I did it first, at my own small scale, five days ago.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48640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33C"/>
                </a:solidFill>
              </a:rPr>
              <a:t>THE JOIN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20624"/>
            <a:ext cx="80101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018"/>
                </a:solidFill>
              </a:rPr>
              <a:t>Three things, and one question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371600"/>
            <a:ext cx="801014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8506A"/>
                </a:solidFill>
              </a:rPr>
              <a:t>Give every record an owner before you seal it. Proof with no owner is just a nice hash.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8506A"/>
                </a:solidFill>
              </a:rPr>
              <a:t>Turn the thing on before you demo it. One flag cost me the whole day.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8506A"/>
                </a:solidFill>
              </a:rPr>
              <a:t>Publish the cost to attack your own system. Not the feature list. The number.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971800"/>
            <a:ext cx="8010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018"/>
                </a:solidFill>
              </a:rPr>
              <a:t>Your system logs what it did. Ask it what it was stopped from doing, and whether it can prove it.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840480"/>
            <a:ext cx="8010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23A2A"/>
                </a:solidFill>
              </a:rPr>
              <a:t>If it cannot, you do not have governance. You have a log file and an opinion.</a:t>
            </a:r>
            <a:endParaRPr lang="en-US" sz="17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566928" y="1325880"/>
            <a:ext cx="801014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30768" y="47594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2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aled">
  <a:themeElements>
    <a:clrScheme name="Sealed">
      <a:dk1>
        <a:srgbClr val="0D1018"/>
      </a:dk1>
      <a:lt1>
        <a:srgbClr val="FFFFFF"/>
      </a:lt1>
      <a:dk2>
        <a:srgbClr val="1B2232"/>
      </a:dk2>
      <a:lt2>
        <a:srgbClr val="F2F3F7"/>
      </a:lt2>
      <a:accent1>
        <a:srgbClr val="E8B33C"/>
      </a:accent1>
      <a:accent2>
        <a:srgbClr val="E0604F"/>
      </a:accent2>
      <a:accent3>
        <a:srgbClr val="4FC99A"/>
      </a:accent3>
      <a:accent4>
        <a:srgbClr val="93A0BB"/>
      </a:accent4>
      <a:accent5>
        <a:srgbClr val="28324A"/>
      </a:accent5>
      <a:accent6>
        <a:srgbClr val="6B7897"/>
      </a:accent6>
      <a:hlink>
        <a:srgbClr val="E8B33C"/>
      </a:hlink>
      <a:folHlink>
        <a:srgbClr val="93A0BB"/>
      </a:folHlink>
    </a:clrScheme>
    <a:fontScheme name="Seale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Count Is Not An Economy</dc:title>
  <dc:subject>PptxGenJS Presentation</dc:subject>
  <dc:creator>O'Rume Dominic Uririe</dc:creator>
  <cp:lastModifiedBy>O'Rume Dominic Uririe</cp:lastModifiedBy>
  <cp:revision>1</cp:revision>
  <dcterms:created xsi:type="dcterms:W3CDTF">2026-10-05T08:35:57Z</dcterms:created>
  <dcterms:modified xsi:type="dcterms:W3CDTF">2026-10-05T08:35:57Z</dcterms:modified>
</cp:coreProperties>
</file>